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2011680"/>
          </a:xfrm>
          <a:prstGeom prst="rect">
            <a:avLst/>
          </a:prstGeom>
          <a:solidFill>
            <a:srgbClr val="085F7D"/>
          </a:solidFill>
          <a:ln w="12700">
            <a:solidFill>
              <a:srgbClr val="085F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LUXEMBOURG FINANCIAL ANALYTICS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5303520" cy="365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432304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regulatory breach detection for Luxembourg investment funds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dual-layer ML, CSSF Circular 24/856, and Generative AI audit rationales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4754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7,640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0" y="10972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prices processed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8470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0" y="2468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breaches detected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32186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rationales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Hargovind Ashar  ·  MSc CS, Politecnico di Milano &amp; Université du Luxembourg (Erasmus+)  · 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github.com/HetAshar13/nav-anomaly-platform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108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Project Overview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416052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612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Pitch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automated pipeline that detects pricing anomalies in Luxembourg investment fund NAV data, cross-references them against CSSF Circular 24/856 regulatory materiality thresholds, and uses a generative AI model to produce structured audit rationales — visualised in a 4-page Power BI dashboard connected to a PostgreSQL database."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886200" cy="27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7121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Differentiator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anomaly detection projects flag statistics. This one flags regulatory breaches. There is a legal distinction in Luxembourg — this system enforces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77056"/>
            <a:ext cx="3886200" cy="27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935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github.com/HetAshar13/nav-anomaly-platform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2452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 ·  PostgreSQL  ·  scikit-learn  ·  Groq API  ·  Power BI  ·  pytest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7899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78992"/>
            <a:ext cx="54864" cy="10789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170432"/>
            <a:ext cx="1828800" cy="5610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7,640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800600" y="1683228"/>
            <a:ext cx="1828800" cy="258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prices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1920606"/>
            <a:ext cx="1828800" cy="205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funds × 754 days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12280" y="107899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12280" y="1078992"/>
            <a:ext cx="54864" cy="10789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170432"/>
            <a:ext cx="1828800" cy="5610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2,029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49440" y="1683228"/>
            <a:ext cx="1828800" cy="258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detected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9440" y="1920606"/>
            <a:ext cx="1828800" cy="205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ML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226771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267712"/>
            <a:ext cx="54864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359152"/>
            <a:ext cx="1828800" cy="5610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800600" y="2871948"/>
            <a:ext cx="1828800" cy="258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breaches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109326"/>
            <a:ext cx="1828800" cy="205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violations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12280" y="226771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12280" y="2267712"/>
            <a:ext cx="54864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359152"/>
            <a:ext cx="1828800" cy="5610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949440" y="2871948"/>
            <a:ext cx="1828800" cy="258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rationales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49440" y="3109326"/>
            <a:ext cx="1828800" cy="205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≥ 60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45643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456432"/>
            <a:ext cx="54864" cy="10789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547872"/>
            <a:ext cx="1828800" cy="5610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4800600" y="4060668"/>
            <a:ext cx="1828800" cy="258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passing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4298046"/>
            <a:ext cx="1828800" cy="205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812280" y="3456432"/>
            <a:ext cx="20116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812280" y="3456432"/>
            <a:ext cx="54864" cy="10789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3547872"/>
            <a:ext cx="1828800" cy="5610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6949440" y="4060668"/>
            <a:ext cx="1828800" cy="258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checks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949440" y="4298046"/>
            <a:ext cx="1828800" cy="205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291840" cy="4864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6459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20440" y="41148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NAV anomaly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matter?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" y="347472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1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CENTRE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10241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€5.5 Trillion AUM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" y="1554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 fund centre globally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United States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2560320" cy="274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21762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= Net Asset Value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per-share price every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relies on to buy or sell.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" y="296265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miscalculated NAV is not just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error — it is a legal event.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1444752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0440" y="1444752"/>
            <a:ext cx="54864" cy="9601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9312" y="1700784"/>
            <a:ext cx="256032" cy="2560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005072" y="15361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005072" y="1828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administrators calculate NAVs daily. Fat-finger errors, stale price feeds, and FX misapplications go undetected until investor complaints surface — often days later.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520440" y="2523744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20440" y="2523744"/>
            <a:ext cx="54864" cy="9601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779776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05072" y="26151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Breach Threshold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005072" y="29077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Circular 24/856 defines exact materiality thresholds per fund type. Breaches require CSSF notification, investor disclosure, and potential compensation.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520440" y="3602736"/>
            <a:ext cx="53035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520440" y="3602736"/>
            <a:ext cx="54864" cy="9601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3858768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005072" y="36941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Regulatory Filter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005072" y="398678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anomaly detection tools flag statistical outliers — not regulatory breaches. The legal distinction requires a system purpose-built for CSSF compliance.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108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Circular 24/856 — NAV Materiality Thresholds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Commission de Surveillance du Secteur Financier (CSSF) is Luxembourg's financial regulator — equivalent to the US SEC, UK FCA, or French AMF. Circular 24/856 mandates that any NAV calculation error exceeding fund-type-specific thresholds constitutes a legal breach requiring formal notification.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2788920" cy="2633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28800"/>
            <a:ext cx="278892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892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Market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233172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29768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= legal breach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2423160" cy="182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364992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sensitive. Even minor errors in short-term instrument pricing trigger mandatory CSSF notification.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1828800"/>
            <a:ext cx="2788920" cy="2633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828800"/>
            <a:ext cx="27889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892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/ Mixed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74136" y="233172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3374136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= legal breach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47288" y="3291840"/>
            <a:ext cx="2423160" cy="182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3364992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income and balanced funds. FX rate errors and stale bond prices are common causes.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08776" y="1828800"/>
            <a:ext cx="2788920" cy="2633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1828800"/>
            <a:ext cx="27889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18504" y="18928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18504" y="233172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1.00%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6318504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= legal breach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91656" y="3291840"/>
            <a:ext cx="2423160" cy="182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3364992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tolerance given equity volatility, but fat-finger and corporate action errors routinely breach this.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4572000"/>
            <a:ext cx="8503920" cy="228600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581144"/>
            <a:ext cx="8503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CONSEQUENCES:   Notify CSSF   ·   Disclose to investors   ·   Potential financial compensation to impacted investors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371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347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1078992" cy="33832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1078992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09344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103120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Generator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2560320"/>
            <a:ext cx="987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funds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754 days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422806" y="2743200"/>
            <a:ext cx="110947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3913632"/>
            <a:ext cx="987552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91363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557528" y="1078992"/>
            <a:ext cx="1078992" cy="33832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57528" y="1078992"/>
            <a:ext cx="107899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57528" y="117043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856" y="1609344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03248" y="2103120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Injector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603248" y="2560320"/>
            <a:ext cx="987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causal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660294" y="2743200"/>
            <a:ext cx="110947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603248" y="3913632"/>
            <a:ext cx="987552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603248" y="391363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2795016" y="1078992"/>
            <a:ext cx="1078992" cy="33832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795016" y="1078992"/>
            <a:ext cx="1078992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795016" y="117043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344" y="1609344"/>
            <a:ext cx="402336" cy="40233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2840736" y="2103120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2840736" y="2560320"/>
            <a:ext cx="987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financial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3897782" y="2743200"/>
            <a:ext cx="110947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2840736" y="3913632"/>
            <a:ext cx="987552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840736" y="391363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4032504" y="1078992"/>
            <a:ext cx="1078992" cy="33832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032504" y="1078992"/>
            <a:ext cx="107899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032504" y="117043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609344"/>
            <a:ext cx="402336" cy="402336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078224" y="2103120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Detection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4078224" y="2560320"/>
            <a:ext cx="987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CSSF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5135270" y="2743200"/>
            <a:ext cx="110947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078224" y="3913632"/>
            <a:ext cx="987552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078224" y="391363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LOF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5269992" y="1078992"/>
            <a:ext cx="1078992" cy="33832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5269992" y="1078992"/>
            <a:ext cx="1078992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269992" y="117043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320" y="1609344"/>
            <a:ext cx="402336" cy="40233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315712" y="2103120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5315712" y="2560320"/>
            <a:ext cx="987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views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6372758" y="2743200"/>
            <a:ext cx="110947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5315712" y="3913632"/>
            <a:ext cx="987552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315712" y="391363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750" dirty="0"/>
          </a:p>
        </p:txBody>
      </p:sp>
      <p:sp>
        <p:nvSpPr>
          <p:cNvPr id="52" name="Shape 45"/>
          <p:cNvSpPr/>
          <p:nvPr/>
        </p:nvSpPr>
        <p:spPr>
          <a:xfrm>
            <a:off x="6507480" y="1078992"/>
            <a:ext cx="1078992" cy="33832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507480" y="1078992"/>
            <a:ext cx="107899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6507480" y="117043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808" y="1609344"/>
            <a:ext cx="402336" cy="402336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6553200" y="2103120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000" dirty="0"/>
          </a:p>
        </p:txBody>
      </p:sp>
      <p:sp>
        <p:nvSpPr>
          <p:cNvPr id="57" name="Text 49"/>
          <p:cNvSpPr/>
          <p:nvPr/>
        </p:nvSpPr>
        <p:spPr>
          <a:xfrm>
            <a:off x="6553200" y="2560320"/>
            <a:ext cx="987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0.1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7610246" y="2743200"/>
            <a:ext cx="110947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6553200" y="3913632"/>
            <a:ext cx="987552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6553200" y="391363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750" dirty="0"/>
          </a:p>
        </p:txBody>
      </p:sp>
      <p:sp>
        <p:nvSpPr>
          <p:cNvPr id="61" name="Shape 53"/>
          <p:cNvSpPr/>
          <p:nvPr/>
        </p:nvSpPr>
        <p:spPr>
          <a:xfrm>
            <a:off x="7744968" y="1078992"/>
            <a:ext cx="1078992" cy="33832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7744968" y="1078992"/>
            <a:ext cx="1078992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7744968" y="1170432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1609344"/>
            <a:ext cx="402336" cy="402336"/>
          </a:xfrm>
          <a:prstGeom prst="rect">
            <a:avLst/>
          </a:prstGeom>
        </p:spPr>
      </p:pic>
      <p:sp>
        <p:nvSpPr>
          <p:cNvPr id="65" name="Text 56"/>
          <p:cNvSpPr/>
          <p:nvPr/>
        </p:nvSpPr>
        <p:spPr>
          <a:xfrm>
            <a:off x="7790688" y="2103120"/>
            <a:ext cx="987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66" name="Text 57"/>
          <p:cNvSpPr/>
          <p:nvPr/>
        </p:nvSpPr>
        <p:spPr>
          <a:xfrm>
            <a:off x="7790688" y="2560320"/>
            <a:ext cx="987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exec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</a:t>
            </a:r>
            <a:endParaRPr lang="en-US" sz="850" dirty="0"/>
          </a:p>
        </p:txBody>
      </p:sp>
      <p:sp>
        <p:nvSpPr>
          <p:cNvPr id="67" name="Shape 58"/>
          <p:cNvSpPr/>
          <p:nvPr/>
        </p:nvSpPr>
        <p:spPr>
          <a:xfrm>
            <a:off x="7790688" y="3913632"/>
            <a:ext cx="987552" cy="237744"/>
          </a:xfrm>
          <a:prstGeom prst="rect">
            <a:avLst/>
          </a:prstGeom>
          <a:solidFill>
            <a:srgbClr val="0D1B2A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68" name="Text 59"/>
          <p:cNvSpPr/>
          <p:nvPr/>
        </p:nvSpPr>
        <p:spPr>
          <a:xfrm>
            <a:off x="7790688" y="391363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/ 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108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NAV Data — Designed for Regulatory Validation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54864" cy="8046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70432"/>
            <a:ext cx="2103120" cy="41842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1529608"/>
            <a:ext cx="2103120" cy="193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Funds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706636"/>
            <a:ext cx="2103120" cy="15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asset classes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993392"/>
            <a:ext cx="54864" cy="8046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84832"/>
            <a:ext cx="2103120" cy="41842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2444008"/>
            <a:ext cx="2103120" cy="193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Days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2621036"/>
            <a:ext cx="2103120" cy="15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07792"/>
            <a:ext cx="54864" cy="8046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99232"/>
            <a:ext cx="2103120" cy="41842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7,640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" y="3358408"/>
            <a:ext cx="2103120" cy="193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Prices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535436"/>
            <a:ext cx="2103120" cy="15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 points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822192"/>
            <a:ext cx="2286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822192"/>
            <a:ext cx="54864" cy="8046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13632"/>
            <a:ext cx="2103120" cy="41842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4272808"/>
            <a:ext cx="2103120" cy="1931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Anomalies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449836"/>
            <a:ext cx="2103120" cy="15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labels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34640" y="1078992"/>
            <a:ext cx="59893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834640" y="1078992"/>
            <a:ext cx="59893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11430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Regimes — Making Detection Credible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71800" y="1444752"/>
            <a:ext cx="1353312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14904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71800" y="178308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×2.0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71800" y="198424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×0.8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16552" y="1444752"/>
            <a:ext cx="1353312" cy="11155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14904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16552" y="178308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×1.0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16552" y="198424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×1.0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61304" y="1444752"/>
            <a:ext cx="1353312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61304" y="14904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861304" y="178308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×-1.5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61304" y="198424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×1.5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06056" y="1444752"/>
            <a:ext cx="1353312" cy="11155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06056" y="1490472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06056" y="1783080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×-2.0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06056" y="198424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×3.0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71800" y="26060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market conditions ensure the model distinguishes genuine pricing errors from legitimate volatility.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34640" y="2834640"/>
            <a:ext cx="5989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834640" y="2834640"/>
            <a:ext cx="598932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71800" y="290779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Causal Anomaly Types Injected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971800" y="3218688"/>
            <a:ext cx="1170432" cy="21031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71800" y="321868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fat_finger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24528" y="323697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point data entry error — NAV ×10 or ÷10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71800" y="3493008"/>
            <a:ext cx="1170432" cy="21031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71800" y="349300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stale_price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24528" y="351129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price feed offline 5–7 days, NAV stays flat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971800" y="3767328"/>
            <a:ext cx="1170432" cy="21031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71800" y="376732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fx_shock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224528" y="378561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rate misapplied — sudden 8–15% NAV move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971800" y="4041648"/>
            <a:ext cx="1170432" cy="21031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71800" y="404164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liquidity_event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224528" y="405993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asset sale at discount — 5–8% NAV drop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971800" y="4315968"/>
            <a:ext cx="1170432" cy="21031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71800" y="4315968"/>
            <a:ext cx="117043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corporate_action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224528" y="4334256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or split processing error — 5–7% move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108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Financial Features — Why Each One Was Chosen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54864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188720"/>
            <a:ext cx="1874520" cy="237744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88720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rolling_volatility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14813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of returns over rolling 20-day window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87168" y="1188720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96896" y="117043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96896" y="135331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volatility signals abnormal market behaviour. A NAV that was flat for days then surges is suspicious regardless of the absolute value.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24144" y="1188720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117043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833872" y="1353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input to Isolation Forest. Distinguishes stress regimes from genuine errors.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828800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828800"/>
            <a:ext cx="54864" cy="685800"/>
          </a:xfrm>
          <a:prstGeom prst="rect">
            <a:avLst/>
          </a:prstGeom>
          <a:solidFill>
            <a:srgbClr val="12A4D4"/>
          </a:solidFill>
          <a:ln w="12700">
            <a:solidFill>
              <a:srgbClr val="12A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1938528"/>
            <a:ext cx="1874520" cy="237744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1938528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tracking_error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223113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of (fund return − benchmark return)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87168" y="1938528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96896" y="1920240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2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96896" y="210312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far the fund deviates from its declared benchmark. A fat-finger error will cause a sudden, unexplained tracking divergence.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24144" y="1938528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19202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2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33872" y="21031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systematic mispricing that return alone won't surface.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2578608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2578608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2688336"/>
            <a:ext cx="1874520" cy="237744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2688336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" y="2980944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 NAV − peak NAV) / peak NAV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87168" y="2688336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96896" y="2670048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596896" y="2852928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peak-to-trough decline. A liquidity event or forced sale creates an abnormally deep drawdown inconsistent with peer funds.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24144" y="2688336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26700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833872" y="28529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liquidity_event and corporate_action anomaly types.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328416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328416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" y="3438144"/>
            <a:ext cx="1874520" cy="237744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" y="3438144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return_7d_avg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" y="373075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rolling mean of daily NAV return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487168" y="3438144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96896" y="3419856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596896" y="3602736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daily noise and surfaces persistent directional trends. A stale_price anomaly creates a flat return series followed by a sudden correction.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724144" y="3438144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33872" y="341985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833872" y="360273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stale_price anomalies — the return is 0.00% for days then resets.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078224"/>
            <a:ext cx="85039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" y="4078224"/>
            <a:ext cx="54864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" y="4187952"/>
            <a:ext cx="1874520" cy="237744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" y="418795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market_regime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5488" y="44805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bull / neutral / bear / stress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487168" y="4187952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96896" y="416966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596896" y="4352544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Contextualises whether a return is abnormal given market conditions. A 2% move in stress is normal; a 2% move in bull is suspicious.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724144" y="4187952"/>
            <a:ext cx="18288" cy="475488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33872" y="416966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833872" y="43525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model from flagging legitimate volatility as anomalies during stress periods.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108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Dual-Layer ML + Regulatory Rule Engine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4160520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338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Statistical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3886200" cy="896112"/>
          </a:xfrm>
          <a:prstGeom prst="rect">
            <a:avLst/>
          </a:prstGeom>
          <a:solidFill>
            <a:srgbClr val="F4F8FB"/>
          </a:solidFill>
          <a:ln w="6350">
            <a:solidFill>
              <a:srgbClr val="D1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27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8745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= 3%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0574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Unsupervised, no labelled data needed. Handles multi-dimensional features. Anomalies isolated by shorter random partitioning path.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3886200" cy="896112"/>
          </a:xfrm>
          <a:prstGeom prst="rect">
            <a:avLst/>
          </a:prstGeom>
          <a:solidFill>
            <a:srgbClr val="F4F8FB"/>
          </a:solidFill>
          <a:ln w="6350">
            <a:solidFill>
              <a:srgbClr val="D1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33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803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 = 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0632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Density-based. Catches local anomalies that global models miss. Cross-validates Isolation Forest flags.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886200" cy="896112"/>
          </a:xfrm>
          <a:prstGeom prst="rect">
            <a:avLst/>
          </a:prstGeom>
          <a:solidFill>
            <a:srgbClr val="F4F8FB"/>
          </a:solidFill>
          <a:ln w="6350">
            <a:solidFill>
              <a:srgbClr val="D1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393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8862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± 3.0σ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0690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univariate baseline. Points beyond ±3 standard deviations from rolling mean.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078992"/>
            <a:ext cx="4160520" cy="3566160"/>
          </a:xfrm>
          <a:prstGeom prst="rect">
            <a:avLst/>
          </a:prstGeom>
          <a:solidFill>
            <a:srgbClr val="0D1B2A"/>
          </a:solidFill>
          <a:ln w="635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078992"/>
            <a:ext cx="41605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13385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CSSF Regulatory Engine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157276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Fund-Type-Aware Threshold Engine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1865376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detected anomaly is cross-referenced against CSSF Circular 24/856 materiality thresholds. The same deviation is legal in an equity fund but a reportable breach in a money market fund.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697480"/>
            <a:ext cx="3886200" cy="182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7889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 0 → 100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08152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combination of ML anomaly score, CSSF breach magnitude vs threshold, market regime context, and feature deviation severity.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4133088"/>
            <a:ext cx="3886200" cy="3657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169664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filter: is_cssf_breach = TRUE  AND  risk_score ≥ 60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371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3657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— 3 Tables + 4 Analytical Views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24128"/>
            <a:ext cx="2651760" cy="2606040"/>
          </a:xfrm>
          <a:prstGeom prst="rect">
            <a:avLst/>
          </a:prstGeom>
          <a:solidFill>
            <a:srgbClr val="1C3044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24128"/>
            <a:ext cx="2651760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88136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10789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nav_prices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" y="1389888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NAV data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9768" y="162763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fund_id  VARCHAR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9768" y="19293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nav_date  DATE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29768" y="223113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nav_value  NUMERIC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29768" y="253288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asset_class  VARCHAR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9768" y="283464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is_injected  BOOLEAN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29768" y="313639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anomaly_type  VARCHAR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108960" y="1024128"/>
            <a:ext cx="2651760" cy="2606040"/>
          </a:xfrm>
          <a:prstGeom prst="rect">
            <a:avLst/>
          </a:prstGeom>
          <a:solidFill>
            <a:srgbClr val="1C3044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08960" y="1024128"/>
            <a:ext cx="26517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88136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93008" y="10789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anomaly_results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218688" y="1389888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detection output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218688" y="162763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fund_id  VARCHAR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218688" y="19293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nav_date  DATE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218688" y="223113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iso_forest_score  FLOAT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218688" y="253288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lof_score  FLOAT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3218688" y="283464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zscore  FLOAT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3218688" y="313639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is_cssf_breach  BOOLEAN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3218688" y="343814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risk_score  INT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3218688" y="373989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risk_category  VARCHAR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897880" y="1024128"/>
            <a:ext cx="2651760" cy="2606040"/>
          </a:xfrm>
          <a:prstGeom prst="rect">
            <a:avLst/>
          </a:prstGeom>
          <a:solidFill>
            <a:srgbClr val="1C3044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897880" y="1024128"/>
            <a:ext cx="26517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88136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81928" y="107899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llm_rationales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007608" y="1389888"/>
            <a:ext cx="2432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output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007608" y="162763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fund_id  VARCHAR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6007608" y="192938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nav_date  DATE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007608" y="223113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observation  TEXT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6007608" y="253288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cause  TEXT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007608" y="283464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action  TEXT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6007608" y="3136392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model_version  VARCHAR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6007608" y="343814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generated_at  TIMESTAMP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320040" y="37307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Analytical SQL Views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320040" y="4059936"/>
            <a:ext cx="4206240" cy="329184"/>
          </a:xfrm>
          <a:prstGeom prst="rect">
            <a:avLst/>
          </a:prstGeom>
          <a:solidFill>
            <a:srgbClr val="243347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320040" y="4059936"/>
            <a:ext cx="4572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57200" y="407822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v_anomaly_dashboard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2075688" y="407822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join: NAV + ML scores + LLM rationales. Primary Power BI data source.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4727448" y="4059936"/>
            <a:ext cx="4206240" cy="329184"/>
          </a:xfrm>
          <a:prstGeom prst="rect">
            <a:avLst/>
          </a:prstGeom>
          <a:solidFill>
            <a:srgbClr val="243347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4727448" y="4059936"/>
            <a:ext cx="4572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4864608" y="4078224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v_cssf_breach_summary</a:t>
            </a:r>
            <a:endParaRPr lang="en-US" sz="850" dirty="0"/>
          </a:p>
        </p:txBody>
      </p:sp>
      <p:sp>
        <p:nvSpPr>
          <p:cNvPr id="51" name="Text 46"/>
          <p:cNvSpPr/>
          <p:nvPr/>
        </p:nvSpPr>
        <p:spPr>
          <a:xfrm>
            <a:off x="6483096" y="407822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breach counts and breach magnitude by fund and asset class.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320040" y="4443984"/>
            <a:ext cx="4206240" cy="329184"/>
          </a:xfrm>
          <a:prstGeom prst="rect">
            <a:avLst/>
          </a:prstGeom>
          <a:solidFill>
            <a:srgbClr val="243347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20040" y="4443984"/>
            <a:ext cx="4572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57200" y="44622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v_monthly_trend</a:t>
            </a:r>
            <a:endParaRPr lang="en-US" sz="850" dirty="0"/>
          </a:p>
        </p:txBody>
      </p:sp>
      <p:sp>
        <p:nvSpPr>
          <p:cNvPr id="55" name="Text 50"/>
          <p:cNvSpPr/>
          <p:nvPr/>
        </p:nvSpPr>
        <p:spPr>
          <a:xfrm>
            <a:off x="2075688" y="446227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anomaly frequency. Sorted by month_sort (YYYYMM integer).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4727448" y="4443984"/>
            <a:ext cx="4206240" cy="329184"/>
          </a:xfrm>
          <a:prstGeom prst="rect">
            <a:avLst/>
          </a:prstGeom>
          <a:solidFill>
            <a:srgbClr val="243347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727448" y="4443984"/>
            <a:ext cx="4572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4864608" y="44622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v_nav_summary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6483096" y="446227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 distribution. risk_sort (1/2/3) ensures correct ordering in visuals.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371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3657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 — From Raw Data to Actionable Compliance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60020" y="1078992"/>
            <a:ext cx="8503920" cy="749808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" y="1152144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7,640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05940" y="113385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prices processed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05940" y="142646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funds × 754 business days, 3 asset classes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20140" y="1965960"/>
            <a:ext cx="6583680" cy="749808"/>
          </a:xfrm>
          <a:prstGeom prst="rect">
            <a:avLst/>
          </a:prstGeom>
          <a:solidFill>
            <a:srgbClr val="085F7D"/>
          </a:solidFill>
          <a:ln w="12700">
            <a:solidFill>
              <a:srgbClr val="085F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7300" y="2039112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66060" y="20208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detected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66060" y="23134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by dual-layer ML (Isolation Forest + LOF + Z-score)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43100" y="2852928"/>
            <a:ext cx="4937760" cy="7498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0260" y="2926080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89020" y="29077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regulatory breaches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89020" y="3200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legal threshold violations under Circular 24/856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66060" y="3739896"/>
            <a:ext cx="3291840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03220" y="3813048"/>
            <a:ext cx="1463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11980" y="3794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for AI audit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1980" y="4087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≥ 60  ·  Avg risk score: 75.16/100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590288"/>
            <a:ext cx="1993392" cy="1828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599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75.16/100  ·  Avg risk score of escalated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68880" y="4590288"/>
            <a:ext cx="1993392" cy="1828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599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  ·  Pytest validations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17720" y="4590288"/>
            <a:ext cx="1993392" cy="1828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599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  ·  Pipeline checks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766560" y="4590288"/>
            <a:ext cx="1993392" cy="182880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5994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Asset classes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108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Executive Dashboard — PostgreSQL Connected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420624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225296"/>
            <a:ext cx="475488" cy="3657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22529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1298448"/>
            <a:ext cx="1188720" cy="201168"/>
          </a:xfrm>
          <a:prstGeom prst="rect">
            <a:avLst/>
          </a:prstGeom>
          <a:solidFill>
            <a:srgbClr val="F4F8FB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2984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9768" y="1645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193852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Visualises the complete detection pipeline: 7,640 → 2,029 → 1,840 → 95. Compliance leadership sees the escalation logic and business value at a glance.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27448" y="1115568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1115568"/>
            <a:ext cx="4206240" cy="45720"/>
          </a:xfrm>
          <a:prstGeom prst="rect">
            <a:avLst/>
          </a:prstGeom>
          <a:solidFill>
            <a:srgbClr val="12A4D4"/>
          </a:solidFill>
          <a:ln w="12700">
            <a:solidFill>
              <a:srgbClr val="12A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37176" y="1225296"/>
            <a:ext cx="475488" cy="365760"/>
          </a:xfrm>
          <a:prstGeom prst="rect">
            <a:avLst/>
          </a:prstGeom>
          <a:solidFill>
            <a:srgbClr val="12A4D4"/>
          </a:solidFill>
          <a:ln w="12700">
            <a:solidFill>
              <a:srgbClr val="12A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122529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13248" y="1298448"/>
            <a:ext cx="1188720" cy="201168"/>
          </a:xfrm>
          <a:prstGeom prst="rect">
            <a:avLst/>
          </a:prstGeom>
          <a:solidFill>
            <a:srgbClr val="F4F8FB"/>
          </a:solidFill>
          <a:ln w="6350">
            <a:solidFill>
              <a:srgbClr val="12A4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12984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37176" y="1645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Heatmap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37176" y="193852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× month matrix reveals clustering during bear/stress market regimes. Equity and Mixed funds dominate — correct given their higher CSSF thresholds.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926080"/>
            <a:ext cx="4206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3035808"/>
            <a:ext cx="475488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03580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" y="3108960"/>
            <a:ext cx="1188720" cy="201168"/>
          </a:xfrm>
          <a:prstGeom prst="rect">
            <a:avLst/>
          </a:prstGeom>
          <a:solidFill>
            <a:srgbClr val="F4F8FB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108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9768" y="3456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Breach Tracker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" y="374904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chart for overall breach rate, bar chart for worst offenders by breach magnitude. Compliance officers identify which funds require immediate CSSF notification.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27448" y="292608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27448" y="2926080"/>
            <a:ext cx="420624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37176" y="3035808"/>
            <a:ext cx="475488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37176" y="303580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13248" y="3108960"/>
            <a:ext cx="1188720" cy="201168"/>
          </a:xfrm>
          <a:prstGeom prst="rect">
            <a:avLst/>
          </a:prstGeom>
          <a:solidFill>
            <a:srgbClr val="F4F8FB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13248" y="3108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PAGE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37176" y="3456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Rationale Log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37176" y="374904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AI-generated rationales in OBSERVATION + CAUSE + ACTION format. Compliance team acts directly — no data science translation required. Temperature 0.1 ensures deterministic, auditable output.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371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LAYER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3657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AI — Deterministic Compliance Rationales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3840480" cy="3584448"/>
          </a:xfrm>
          <a:prstGeom prst="rect">
            <a:avLst/>
          </a:prstGeom>
          <a:solidFill>
            <a:srgbClr val="1C3044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384048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Choices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36192" y="1481328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(meta-llama/llama-4-scout-17b-16e-instruct) via Groq 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36192" y="2103120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— Near-deterministic. Same input → same output every run. Essential for auditability.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536192" y="2724912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— enforced schema, not freeform text. Prevents hallucination.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34670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36192" y="3346704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is_cssf_breach = TRUE AND risk_score ≥ 60. Only 95 highest-priority entries escalated.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36192" y="3968496"/>
            <a:ext cx="248716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production: swap Groq for proprietary model behind Deloitte API gateway.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43400" y="1051560"/>
            <a:ext cx="4480560" cy="3584448"/>
          </a:xfrm>
          <a:prstGeom prst="rect">
            <a:avLst/>
          </a:prstGeom>
          <a:solidFill>
            <a:srgbClr val="0A1A2A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115568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AI AUDIT RATIONALE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80560" y="1371600"/>
            <a:ext cx="4206240" cy="1828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4447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16459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18470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of 102.847 represents a 9.84% deviation from the prior day price of 93.635, exceeding the CSSF 1.00% materiality threshold for equity funds by 8.84 percentage points.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1945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39572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consistent with fat_finger data entry error — decimal misplacement causing NAV inflation by ~1.10. Isolation Forest and LOF both flag entry; Z-score = 4.2σ.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80560" y="27432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29443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Circular 24/856 notification required. Initiate investor disclosure. Recalculate NAV from source data. Escalate to compliance officer immediately.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43400" y="4370832"/>
            <a:ext cx="4480560" cy="25603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438912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automated pytest validations passing  ·  Deterministic output  ·  Auditability over creativity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108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Stack — AWS Deployable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2743200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957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0664" y="11887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Runtime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9768" y="157276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 3.14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9768" y="179222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pandas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29768" y="2011680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numpy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9768" y="2231136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sqlalchemy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29768" y="245059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psycopg2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9768" y="267004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python-dotenv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00400" y="1115568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0" y="1115568"/>
            <a:ext cx="2743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79576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21024" y="11887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10128" y="157276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scikit-learn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310128" y="179222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Isolation Forest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310128" y="2011680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Local Outlier Factor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310128" y="2231136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Z-score detection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310128" y="245059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Feature engineering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080760" y="1115568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080760" y="1115568"/>
            <a:ext cx="2743200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79576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501384" y="11887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190488" y="157276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18 (local)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190488" y="179222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AWS RDS (production)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190488" y="2011680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 schema tables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190488" y="2231136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analytical SQL views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190488" y="245059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sqlalchemy ORM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20040" y="2944368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320040" y="2944368"/>
            <a:ext cx="27432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08376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40664" y="30175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29768" y="340156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Groq API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429768" y="362102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Llama 4 Scout (17B)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429768" y="3840480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Temperature 0.1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429768" y="4059936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Structured JSON output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429768" y="427939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500K tokens/day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3200400" y="2944368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3200400" y="2944368"/>
            <a:ext cx="2743200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008376"/>
            <a:ext cx="256032" cy="256032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3621024" y="30175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3310128" y="340156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Power BI Desktop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3310128" y="362102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DAX measures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3310128" y="3840480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4-page dashboard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3310128" y="4059936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PostgreSQL data model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3310128" y="427939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AWS RDS in production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6080760" y="2944368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6080760" y="2944368"/>
            <a:ext cx="27432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008376"/>
            <a:ext cx="256032" cy="256032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6501384" y="301752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Dev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6190488" y="3401568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pytest (6/6 passing)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6190488" y="362102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8/8 pipeline checks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6190488" y="3840480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Git / GitHub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6190488" y="4059936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Virtual environment</a:t>
            </a:r>
            <a:endParaRPr lang="en-US" sz="900" dirty="0"/>
          </a:p>
        </p:txBody>
      </p:sp>
      <p:sp>
        <p:nvSpPr>
          <p:cNvPr id="62" name="Text 54"/>
          <p:cNvSpPr/>
          <p:nvPr/>
        </p:nvSpPr>
        <p:spPr>
          <a:xfrm>
            <a:off x="6190488" y="427939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Modular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371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3657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Quality Assurance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206240" cy="3584448"/>
          </a:xfrm>
          <a:prstGeom prst="rect">
            <a:avLst/>
          </a:prstGeom>
          <a:solidFill>
            <a:srgbClr val="1C3044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420624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73352" y="1234440"/>
            <a:ext cx="2715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Pytest Validations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" y="2148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completeness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9464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5528" y="25694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correctness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9008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" y="2990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output structure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10712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5528" y="3410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threshold logic accuracy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3133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5528" y="3831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rationale format compliance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51960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95528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write integrity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4727448" y="1078992"/>
            <a:ext cx="4206240" cy="3584448"/>
          </a:xfrm>
          <a:prstGeom prst="rect">
            <a:avLst/>
          </a:prstGeom>
          <a:solidFill>
            <a:srgbClr val="1C3044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727448" y="1078992"/>
            <a:ext cx="420624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4864608" y="114300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4200" dirty="0"/>
          </a:p>
        </p:txBody>
      </p:sp>
      <p:sp>
        <p:nvSpPr>
          <p:cNvPr id="27" name="Text 19"/>
          <p:cNvSpPr/>
          <p:nvPr/>
        </p:nvSpPr>
        <p:spPr>
          <a:xfrm>
            <a:off x="4864608" y="179222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6080760" y="1234440"/>
            <a:ext cx="2715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 Pipeline Checks</a:t>
            </a:r>
            <a:endParaRPr lang="en-US" sz="14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14884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02936" y="2148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price range validity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2569464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202936" y="25694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sequence continuity</a:t>
            </a:r>
            <a:endParaRPr lang="en-US" sz="10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2990088"/>
            <a:ext cx="201168" cy="20116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202936" y="2990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class categorisation</a:t>
            </a:r>
            <a:endParaRPr lang="en-US" sz="10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3410712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202936" y="3410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ID consistency</a:t>
            </a:r>
            <a:endParaRPr lang="en-US" sz="10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3831336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202936" y="3831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bounds (0–100)</a:t>
            </a:r>
            <a:endParaRPr lang="en-US" sz="10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0328" y="4251960"/>
            <a:ext cx="201168" cy="20116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202936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flag logic</a:t>
            </a:r>
            <a:endParaRPr lang="en-US" sz="105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0328" y="4672584"/>
            <a:ext cx="201168" cy="20116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5202936" y="4672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JSON schema validation</a:t>
            </a:r>
            <a:endParaRPr lang="en-US" sz="105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0328" y="5093208"/>
            <a:ext cx="201168" cy="201168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5202936" y="50932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data model integrity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108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Portfolio Project to Live Compliance Tool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2148840"/>
            <a:ext cx="8503920" cy="54864"/>
          </a:xfrm>
          <a:prstGeom prst="rect">
            <a:avLst/>
          </a:prstGeom>
          <a:solidFill>
            <a:srgbClr val="D1DDE8"/>
          </a:solidFill>
          <a:ln w="12700">
            <a:solidFill>
              <a:srgbClr val="D1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011680"/>
            <a:ext cx="320040" cy="320040"/>
          </a:xfrm>
          <a:prstGeom prst="oval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78992"/>
            <a:ext cx="202996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078992"/>
            <a:ext cx="2029968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1338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87168"/>
            <a:ext cx="2029968" cy="2176272"/>
          </a:xfrm>
          <a:prstGeom prst="rect">
            <a:avLst/>
          </a:prstGeom>
          <a:solidFill>
            <a:srgbClr val="F4F8FB"/>
          </a:solidFill>
          <a:ln w="6350">
            <a:solidFill>
              <a:srgbClr val="E0E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60320"/>
            <a:ext cx="184708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synthetic NAV generator with API feed from fund administrator (Caceis, BNY Mellon, State Street). Pipeline architecture identical — swap input source only.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2011680"/>
            <a:ext cx="320040" cy="320040"/>
          </a:xfrm>
          <a:prstGeom prst="oval">
            <a:avLst/>
          </a:prstGeom>
          <a:solidFill>
            <a:srgbClr val="12A4D4"/>
          </a:solidFill>
          <a:ln w="12700">
            <a:solidFill>
              <a:srgbClr val="12A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1078992"/>
            <a:ext cx="202996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078992"/>
            <a:ext cx="2029968" cy="45720"/>
          </a:xfrm>
          <a:prstGeom prst="rect">
            <a:avLst/>
          </a:prstGeom>
          <a:solidFill>
            <a:srgbClr val="12A4D4"/>
          </a:solidFill>
          <a:ln w="12700">
            <a:solidFill>
              <a:srgbClr val="12A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11338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2487168"/>
            <a:ext cx="2029968" cy="2176272"/>
          </a:xfrm>
          <a:prstGeom prst="rect">
            <a:avLst/>
          </a:prstGeom>
          <a:solidFill>
            <a:srgbClr val="F4F8FB"/>
          </a:solidFill>
          <a:ln w="6350">
            <a:solidFill>
              <a:srgbClr val="E0EA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560320"/>
            <a:ext cx="184708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detection pipeline as daily automated Lambda function triggered at market close. Stateless, scalable, zero infrastructure maintenance.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40680" y="2011680"/>
            <a:ext cx="320040" cy="32004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1078992"/>
            <a:ext cx="202996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078992"/>
            <a:ext cx="202996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1338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0916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 + Power BI Service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487168"/>
            <a:ext cx="2029968" cy="2176272"/>
          </a:xfrm>
          <a:prstGeom prst="rect">
            <a:avLst/>
          </a:prstGeom>
          <a:solidFill>
            <a:srgbClr val="F4F8FB"/>
          </a:solidFill>
          <a:ln w="6350">
            <a:solidFill>
              <a:srgbClr val="E0EA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560320"/>
            <a:ext cx="184708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local PostgreSQL to AWS RDS. Connect Power BI Service for live dashboard — compliance team accesses real-time breach data from browser.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0" y="2011680"/>
            <a:ext cx="320040" cy="320040"/>
          </a:xfrm>
          <a:prstGeom prst="oval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1078992"/>
            <a:ext cx="202996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66560" y="1078992"/>
            <a:ext cx="2029968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1338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Escalation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2487168"/>
            <a:ext cx="2029968" cy="2176272"/>
          </a:xfrm>
          <a:prstGeom prst="rect">
            <a:avLst/>
          </a:prstGeom>
          <a:solidFill>
            <a:srgbClr val="F4F8FB"/>
          </a:solidFill>
          <a:ln w="6350">
            <a:solidFill>
              <a:srgbClr val="E0EA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560320"/>
            <a:ext cx="1847088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and email alerts for any new CSSF breach event. Webhook to compliance workflow system. No manual monitoring required.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03920" cy="228600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81144"/>
            <a:ext cx="83667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unchanged — detection engine, CSSF rule engine, LLM rationale layer, and BI dashboard are production-ready as built.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371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3657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Platform Replaces — and What It Enables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3840480" cy="3566160"/>
          </a:xfrm>
          <a:prstGeom prst="rect">
            <a:avLst/>
          </a:prstGeom>
          <a:solidFill>
            <a:srgbClr val="1C3044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384048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PLATFORM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daily review of NAV prices by compliance officers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01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Errors discovered days later — often from investor complaints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automated CSSF threshold checks — breaches missed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 hoc Excel analysis with no audit trail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8895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Compliance team spends hours per week on detection work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21868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Regulatory risk: undetected breaches = CSSF enforcement action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1051560"/>
            <a:ext cx="4480560" cy="3566160"/>
          </a:xfrm>
          <a:prstGeom prst="rect">
            <a:avLst/>
          </a:prstGeom>
          <a:solidFill>
            <a:srgbClr val="1C3044"/>
          </a:solidFill>
          <a:ln w="1016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051560"/>
            <a:ext cx="44805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1155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15727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daily scan of all 7,640 NAV prices in seconds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19019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Breaches identified same day — before investor impact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0" y="223113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CSSF Circular 24/856 thresholds enforced automatically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0" y="25603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95 actionable audit entries with AI-generated rationales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28895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 team focuses on remediation, not detection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0" y="32186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audit trail: pytest-validated, deterministic, reproducible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8503920" cy="2286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81144"/>
            <a:ext cx="8321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framing: this system transforms compliance from a reactive, manual function into a proactive, automated, audit-ready process.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1371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3657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Platform Different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2743200" cy="3566160"/>
          </a:xfrm>
          <a:prstGeom prst="rect">
            <a:avLst/>
          </a:prstGeom>
          <a:solidFill>
            <a:srgbClr val="1C3044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274320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234440"/>
            <a:ext cx="731520" cy="731520"/>
          </a:xfrm>
          <a:prstGeom prst="oval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353312"/>
            <a:ext cx="493776" cy="4937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Breaches,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Statistics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2743200"/>
            <a:ext cx="1828800" cy="365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8346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anomaly detection projects flag statistical outliers. This platform flags legal breaches under CSSF Circular 24/856. A material breach requires CSSF notification, investor disclosure, and potential compensation. The platform enforces this distinction automatically.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1078992"/>
            <a:ext cx="2743200" cy="3566160"/>
          </a:xfrm>
          <a:prstGeom prst="rect">
            <a:avLst/>
          </a:prstGeom>
          <a:solidFill>
            <a:srgbClr val="1C3044"/>
          </a:solidFill>
          <a:ln w="1016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1078992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06240" y="1234440"/>
            <a:ext cx="731520" cy="731520"/>
          </a:xfrm>
          <a:prstGeom prst="oval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353312"/>
            <a:ext cx="493776" cy="4937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Over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in AI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657600" y="2743200"/>
            <a:ext cx="1828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37560" y="28346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at temperature 0.1 with enforced JSON schema produces deterministic, consistent audit rationales. Every output is reproducible. This is how Generative AI must be deployed in regulated financial environments — and this platform demonstrates it.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80760" y="1078992"/>
            <a:ext cx="2743200" cy="3566160"/>
          </a:xfrm>
          <a:prstGeom prst="rect">
            <a:avLst/>
          </a:prstGeom>
          <a:solidFill>
            <a:srgbClr val="1C3044"/>
          </a:solidFill>
          <a:ln w="10160">
            <a:solidFill>
              <a:srgbClr val="12A4D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80760" y="1078992"/>
            <a:ext cx="2743200" cy="45720"/>
          </a:xfrm>
          <a:prstGeom prst="rect">
            <a:avLst/>
          </a:prstGeom>
          <a:solidFill>
            <a:srgbClr val="12A4D4"/>
          </a:solidFill>
          <a:ln w="12700">
            <a:solidFill>
              <a:srgbClr val="12A4D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086600" y="1234440"/>
            <a:ext cx="731520" cy="731520"/>
          </a:xfrm>
          <a:prstGeom prst="oval">
            <a:avLst/>
          </a:prstGeom>
          <a:solidFill>
            <a:srgbClr val="12A4D4"/>
          </a:solidFill>
          <a:ln w="12700">
            <a:solidFill>
              <a:srgbClr val="12A4D4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353312"/>
            <a:ext cx="493776" cy="4937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17920" y="21031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Inside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Luxembourg's Ecosystem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537960" y="2743200"/>
            <a:ext cx="1828800" cy="36576"/>
          </a:xfrm>
          <a:prstGeom prst="rect">
            <a:avLst/>
          </a:prstGeom>
          <a:solidFill>
            <a:srgbClr val="12A4D4"/>
          </a:solidFill>
          <a:ln w="12700">
            <a:solidFill>
              <a:srgbClr val="12A4D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17920" y="283464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Circular 24/856 thresholds. STATEC and Eurostat data. UCITS and AIF fund structures used daily by Luxembourg asset managers. Not a generic anomaly detector — it operates within the specific legal and market context of the world's 2nd largest fund centre.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3044"/>
          </a:solidFill>
          <a:ln w="12700">
            <a:solidFill>
              <a:srgbClr val="1C3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  ·  Het Hargovind Ashar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4882896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10896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Differently — and What I'd Scale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4206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225296"/>
            <a:ext cx="731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225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0160" y="12070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Contamination Parameter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151790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contamination=3% was chosen heuristically. In production, I'd calibrate this against historical false positive rates per fund type using CSSF enforcement records as ground truth.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27448" y="111556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115568"/>
            <a:ext cx="42062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37176" y="1225296"/>
            <a:ext cx="731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1225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687568" y="12070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 Drift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151790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model is static. A production system needs an alert when NAV return distributions shift significantly — indicating regime change that may require retraining or threshold recalibration.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35000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350008"/>
            <a:ext cx="420624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2459736"/>
            <a:ext cx="731520" cy="2011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45973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80160" y="24414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Multi-Fund Administrator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275234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designed for one fund administrator data format. Scaling to Caceis, BNY Mellon, and State Street simultaneously would require a data ingestion abstraction layer per administrator API spec.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27448" y="235000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27448" y="2350008"/>
            <a:ext cx="4206240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37176" y="2459736"/>
            <a:ext cx="731520" cy="2011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245973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87568" y="24414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vs Daily Batch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7176" y="275234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design runs daily batch. For intraday NAV products (some money market funds), a streaming architecture (Kafka + Spark) would replace the batch pipeline while the detection logic stays identical.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58444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584448"/>
            <a:ext cx="420624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" y="3694176"/>
            <a:ext cx="73152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6941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280160" y="367588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0.1 Was the Right Call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9768" y="398678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architectural decision. In any regulated environment, auditability beats performance. Every compliance officer who reviewed the rationales confirmed that consistency and structure mattered more than linguistic quality.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27448" y="3584448"/>
            <a:ext cx="420624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27448" y="3584448"/>
            <a:ext cx="420624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37176" y="3694176"/>
            <a:ext cx="73152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37176" y="36941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687568" y="367588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+ Ground Truth Labels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37176" y="3986784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E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NAV data is proprietary. The causal anomaly injection approach gave something real data can't: exact ground truth. This is now my standard methodology for financial anomaly detection projects without client data access.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NAV ANOMALY INTELLIGENCE PLATFORM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Detection. Regulation. AI Governance.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286000" y="2121408"/>
            <a:ext cx="4572000" cy="3657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github.com/HetAshar13/nav-anomaly-platform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249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Hargovind Ashar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Computer Science &amp; Engineering  ·  Politecnico di Milano + Université du Luxembourg (Erasmus+)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381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het8140@gmail.com  ·  (+352) 661548504  ·  Belvaux, Luxembourg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4069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7,640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prices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4069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6324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CSSF breaches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4069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8348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rationales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03720" y="406908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4498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CSSF NAV Anomaly Intelligence Platform</dc:title>
  <dc:subject>PptxGenJS Presentation</dc:subject>
  <dc:creator>Het Hargovind Ashar</dc:creator>
  <cp:lastModifiedBy>Het Hargovind Ashar</cp:lastModifiedBy>
  <cp:revision>1</cp:revision>
  <dcterms:created xsi:type="dcterms:W3CDTF">2026-03-22T23:10:38Z</dcterms:created>
  <dcterms:modified xsi:type="dcterms:W3CDTF">2026-03-22T23:10:38Z</dcterms:modified>
</cp:coreProperties>
</file>